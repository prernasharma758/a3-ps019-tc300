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-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66760" y="1051560"/>
            <a:ext cx="2834640" cy="45720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978407"/>
            <a:ext cx="201168" cy="201168"/>
          </a:xfrm>
          <a:prstGeom prst="ellipse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034272" y="978407"/>
            <a:ext cx="201168" cy="201168"/>
          </a:xfrm>
          <a:prstGeom prst="ellipse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38944" y="978407"/>
            <a:ext cx="201168" cy="201168"/>
          </a:xfrm>
          <a:prstGeom prst="ellipse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43616" y="978407"/>
            <a:ext cx="201168" cy="201168"/>
          </a:xfrm>
          <a:prstGeom prst="ellipse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66760" y="2286000"/>
            <a:ext cx="2834640" cy="45720"/>
          </a:xfrm>
          <a:prstGeom prst="rect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0" y="2212848"/>
            <a:ext cx="201168" cy="201168"/>
          </a:xfrm>
          <a:prstGeom prst="ellipse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34272" y="2212848"/>
            <a:ext cx="201168" cy="201168"/>
          </a:xfrm>
          <a:prstGeom prst="ellipse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38944" y="2212848"/>
            <a:ext cx="201168" cy="201168"/>
          </a:xfrm>
          <a:prstGeom prst="ellipse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43616" y="2212848"/>
            <a:ext cx="201168" cy="201168"/>
          </a:xfrm>
          <a:prstGeom prst="ellipse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3520440"/>
            <a:ext cx="2834640" cy="45720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3447288"/>
            <a:ext cx="201168" cy="201168"/>
          </a:xfrm>
          <a:prstGeom prst="ellipse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034272" y="3447288"/>
            <a:ext cx="201168" cy="201168"/>
          </a:xfrm>
          <a:prstGeom prst="ellipse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838944" y="3447288"/>
            <a:ext cx="201168" cy="201168"/>
          </a:xfrm>
          <a:prstGeom prst="ellipse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43616" y="3447288"/>
            <a:ext cx="201168" cy="201168"/>
          </a:xfrm>
          <a:prstGeom prst="ellipse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66760" y="4754880"/>
            <a:ext cx="2834640" cy="45720"/>
          </a:xfrm>
          <a:prstGeom prst="rect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0" y="4681728"/>
            <a:ext cx="201168" cy="201168"/>
          </a:xfrm>
          <a:prstGeom prst="ellipse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034272" y="4681728"/>
            <a:ext cx="201168" cy="201168"/>
          </a:xfrm>
          <a:prstGeom prst="ellipse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838944" y="4681728"/>
            <a:ext cx="201168" cy="201168"/>
          </a:xfrm>
          <a:prstGeom prst="ellipse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643616" y="4681728"/>
            <a:ext cx="201168" cy="201168"/>
          </a:xfrm>
          <a:prstGeom prst="ellipse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658368"/>
            <a:ext cx="66751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200" b="1" i="0">
                <a:solidFill>
                  <a:srgbClr val="22C6B0"/>
                </a:solidFill>
                <a:latin typeface="Aptos"/>
              </a:rPr>
              <a:t>AIORI HACKATHON 3  •  CATEGORY: CYBERSECURITY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6858000" cy="1554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900" b="1" i="0">
                <a:solidFill>
                  <a:srgbClr val="F5F8FC"/>
                </a:solidFill>
                <a:latin typeface="Aptos"/>
              </a:rPr>
              <a:t>PERSONAL-DATA
DISCOVERY &amp; EVIDENCE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337560"/>
            <a:ext cx="621792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800" b="0" i="0">
                <a:solidFill>
                  <a:srgbClr val="50CBE1"/>
                </a:solidFill>
                <a:latin typeface="Aptos"/>
              </a:rPr>
              <a:t>PS-019 | A configurable scanner for privacy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343400"/>
            <a:ext cx="6035040" cy="9601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526280"/>
            <a:ext cx="5486400" cy="228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000" b="1" i="0">
                <a:solidFill>
                  <a:srgbClr val="AFBED2"/>
                </a:solidFill>
                <a:latin typeface="Aptos"/>
              </a:rPr>
              <a:t>PRESENTED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" y="4743994"/>
            <a:ext cx="5486400" cy="54784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lang="en-US" sz="1600" b="1" dirty="0" err="1">
                <a:solidFill>
                  <a:srgbClr val="F5F8FC"/>
                </a:solidFill>
                <a:latin typeface="Aptos"/>
              </a:rPr>
              <a:t>Infoshield</a:t>
            </a:r>
            <a:r>
              <a:rPr sz="1600" b="1" i="0" dirty="0">
                <a:solidFill>
                  <a:srgbClr val="F5F8FC"/>
                </a:solidFill>
                <a:latin typeface="Aptos"/>
              </a:rPr>
              <a:t> •  </a:t>
            </a:r>
            <a:r>
              <a:rPr lang="en-US" sz="1600" b="1" dirty="0">
                <a:solidFill>
                  <a:srgbClr val="F5F8FC"/>
                </a:solidFill>
                <a:latin typeface="Aptos"/>
              </a:rPr>
              <a:t>Prerna sharma, Pranav </a:t>
            </a:r>
            <a:r>
              <a:rPr lang="en-US" sz="1600" b="1" dirty="0" err="1">
                <a:solidFill>
                  <a:srgbClr val="F5F8FC"/>
                </a:solidFill>
                <a:latin typeface="Aptos"/>
              </a:rPr>
              <a:t>arora</a:t>
            </a:r>
            <a:endParaRPr lang="en-US" sz="1600" b="1" dirty="0">
              <a:solidFill>
                <a:srgbClr val="F5F8FC"/>
              </a:solidFill>
              <a:latin typeface="Aptos"/>
            </a:endParaRPr>
          </a:p>
          <a:p>
            <a:pPr algn="l"/>
            <a:r>
              <a:rPr lang="en-US" sz="1600" b="1" i="0" dirty="0">
                <a:solidFill>
                  <a:srgbClr val="F5F8FC"/>
                </a:solidFill>
                <a:latin typeface="Aptos"/>
              </a:rPr>
              <a:t>Mentor : Sachin sir</a:t>
            </a:r>
            <a:endParaRPr sz="1600" b="1" i="0" dirty="0">
              <a:solidFill>
                <a:srgbClr val="F5F8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000" b="1" i="0">
                <a:solidFill>
                  <a:srgbClr val="22C6B0"/>
                </a:solidFill>
                <a:latin typeface="Aptos"/>
              </a:rP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900"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900" b="0" i="0">
                <a:solidFill>
                  <a:srgbClr val="AFBED2"/>
                </a:solidFill>
                <a:latin typeface="Aptos"/>
              </a:rPr>
              <a:t>PS-019 •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89888"/>
            <a:ext cx="10789920" cy="65836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000" b="1" i="0">
                <a:solidFill>
                  <a:srgbClr val="50CBE1"/>
                </a:solidFill>
                <a:latin typeface="Aptos"/>
              </a:rPr>
              <a:t>A practical scanner to discover candidate personal-data fields and surface documentation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3429000" cy="22860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59436" cy="2286000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79"/>
            <a:ext cx="3108960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22C6B0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153" y="2975050"/>
            <a:ext cx="3081528" cy="60939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F5F8FC"/>
                </a:solidFill>
                <a:latin typeface="Aptos"/>
              </a:rPr>
              <a:t>Synthetic CSV files
SQL 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3429000" cy="22860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331720"/>
            <a:ext cx="59436" cy="2286000"/>
          </a:xfrm>
          <a:prstGeom prst="rect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79"/>
            <a:ext cx="3108960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50CBE1"/>
                </a:solidFill>
                <a:latin typeface="Aptos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716" y="2907792"/>
            <a:ext cx="3081528" cy="88639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F5F8FC"/>
                </a:solidFill>
                <a:latin typeface="Aptos"/>
              </a:rPr>
              <a:t>Configurable detection rules
Five predefined data classes
Purpose &amp; retention mapping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331720"/>
            <a:ext cx="3429000" cy="22860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331720"/>
            <a:ext cx="59436" cy="2286000"/>
          </a:xfrm>
          <a:prstGeom prst="rect">
            <a:avLst/>
          </a:prstGeom>
          <a:solidFill>
            <a:srgbClr val="69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2468879"/>
            <a:ext cx="3108960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69DCA0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834639"/>
            <a:ext cx="3081528" cy="88639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F5F8FC"/>
                </a:solidFill>
                <a:latin typeface="Aptos"/>
              </a:rPr>
              <a:t>Structured evidence inventory
Missing-metadata report
Per-class precision &amp; recall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000" b="1" i="0">
                <a:solidFill>
                  <a:srgbClr val="22C6B0"/>
                </a:solidFill>
                <a:latin typeface="Aptos"/>
              </a:rPr>
              <a:t>02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Problem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900"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900" b="0" i="0">
                <a:solidFill>
                  <a:srgbClr val="AFBED2"/>
                </a:solidFill>
                <a:latin typeface="Aptos"/>
              </a:rPr>
              <a:t>PS-019 •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520440" cy="18288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59436" cy="1828800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45919"/>
            <a:ext cx="3200400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22C6B0"/>
                </a:solidFill>
                <a:latin typeface="Aptos"/>
              </a:rPr>
              <a:t>SCATTERED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3172968" cy="12344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Personal-data fields may be spread across unindexed tables and spreadsheets.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520440" cy="18288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59436" cy="1828800"/>
          </a:xfrm>
          <a:prstGeom prst="rect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19"/>
            <a:ext cx="3200400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50CBE1"/>
                </a:solidFill>
                <a:latin typeface="Aptos"/>
              </a:rPr>
              <a:t>MISSING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3172968" cy="12344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Fields may not be linked to a declared business purpose.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08760"/>
            <a:ext cx="3520440" cy="18288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508760"/>
            <a:ext cx="59436" cy="18288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645919"/>
            <a:ext cx="3200400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FFB454"/>
                </a:solidFill>
                <a:latin typeface="Aptos"/>
              </a:rPr>
              <a:t>RETENTION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011680"/>
            <a:ext cx="3172968" cy="12344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Retention schedules may be missing or difficult to verify.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94760"/>
            <a:ext cx="10835640" cy="146304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0584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300" b="1" i="0">
                <a:solidFill>
                  <a:srgbClr val="22C6B0"/>
                </a:solidFill>
                <a:latin typeface="Aptos"/>
              </a:rPr>
              <a:t>CORE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16552"/>
            <a:ext cx="10149840" cy="6400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Build a scanner that identifies candidate personal-data fields, maps them to available purpose and retention metadata, and flags missing information for human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000" b="1" i="0">
                <a:solidFill>
                  <a:srgbClr val="22C6B0"/>
                </a:solidFill>
                <a:latin typeface="Aptos"/>
              </a:rPr>
              <a:t>03 •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Background &amp; Regulatory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900"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900" b="0" i="0">
                <a:solidFill>
                  <a:srgbClr val="AFBED2"/>
                </a:solidFill>
                <a:latin typeface="Aptos"/>
              </a:rPr>
              <a:t>PS-019 •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257800" cy="425196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96212"/>
            <a:ext cx="4892040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 dirty="0">
                <a:solidFill>
                  <a:srgbClr val="22C6B0"/>
                </a:solidFill>
                <a:latin typeface="Aptos"/>
              </a:rPr>
              <a:t>KEY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" y="2551176"/>
            <a:ext cx="4892040" cy="282538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F5F8FC"/>
                </a:solidFill>
                <a:latin typeface="Aptos"/>
              </a:rPr>
              <a:t>•  Personal-data discovery: finding fields that may relate to individuals.
•  Classification: grouping fields into five predefined data classes.
•  Purpose metadata: why a field is collected or processed.
•  Retention metadata: how long data is scheduled to be retained.
•  Evidence inventory: records findings and missing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57800" cy="425196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1628067"/>
            <a:ext cx="4892040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 dirty="0">
                <a:solidFill>
                  <a:srgbClr val="50CBE1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2514600"/>
            <a:ext cx="4892040" cy="254839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0" i="0" dirty="0">
                <a:solidFill>
                  <a:srgbClr val="F5F8FC"/>
                </a:solidFill>
                <a:latin typeface="Aptos"/>
              </a:rPr>
              <a:t>•  </a:t>
            </a:r>
            <a:r>
              <a:rPr b="0" i="0" dirty="0">
                <a:solidFill>
                  <a:srgbClr val="F5F8FC"/>
                </a:solidFill>
                <a:latin typeface="Aptos"/>
              </a:rPr>
              <a:t>Data may accumulate across files and database tables.
•  Manual review can be slow and inconsistent.
•  Disconnected metadata makes gaps harder to see.
•  A structured inventory supports repeatable review.
•  Human reviewers remain responsible for interpretation</a:t>
            </a:r>
            <a:r>
              <a:rPr sz="1400" b="0" i="0" dirty="0">
                <a:solidFill>
                  <a:srgbClr val="F5F8F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000" b="1" i="0">
                <a:solidFill>
                  <a:srgbClr val="22C6B0"/>
                </a:solidFill>
                <a:latin typeface="Aptos"/>
              </a:rPr>
              <a:t>04 • EXISTING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Literature &amp; Standards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900"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900" b="0" i="0">
                <a:solidFill>
                  <a:srgbClr val="AFBED2"/>
                </a:solidFill>
                <a:latin typeface="Aptos"/>
              </a:rPr>
              <a:t>PS-019 •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474720" cy="18288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59436" cy="1828800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154679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22C6B0"/>
                </a:solidFill>
                <a:latin typeface="Aptos"/>
              </a:rPr>
              <a:t>RULE-BASED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127248" cy="116339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F5F8FC"/>
                </a:solidFill>
                <a:latin typeface="Aptos"/>
              </a:rPr>
              <a:t>Transparent patterns can flag candidate fields, but rules need configuration and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74720" cy="18288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59436" cy="1828800"/>
          </a:xfrm>
          <a:prstGeom prst="rect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154679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50CBE1"/>
                </a:solidFill>
                <a:latin typeface="Aptos"/>
              </a:rPr>
              <a:t>METADATA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127248" cy="88639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F5F8FC"/>
                </a:solidFill>
                <a:latin typeface="Aptos"/>
              </a:rPr>
              <a:t>Purpose and retention records provide context, but may be disconnected or incomplete.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463040"/>
            <a:ext cx="3474720" cy="18288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1463040"/>
            <a:ext cx="59436" cy="18288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600200"/>
            <a:ext cx="3154679" cy="3108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500" b="1" i="0">
                <a:solidFill>
                  <a:srgbClr val="FFB454"/>
                </a:solidFill>
                <a:latin typeface="Aptos"/>
              </a:rPr>
              <a:t>PRIVACY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965960"/>
            <a:ext cx="3127248" cy="116339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F5F8FC"/>
                </a:solidFill>
                <a:latin typeface="Aptos"/>
              </a:rPr>
              <a:t>Data protection frameworks inform governance; the scanner should not interpret the law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10789920" cy="141732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913632"/>
            <a:ext cx="100584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300" b="1" i="0">
                <a:solidFill>
                  <a:srgbClr val="22C6B0"/>
                </a:solidFill>
                <a:latin typeface="Aptos"/>
              </a:rPr>
              <a:t>IDENTIFIED PRACTICAL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10149840" cy="594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A unified workflow is needed to combine CSV/SQL discovery, five-class classification, metadata mapping, and evidence-gap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000" b="1" i="0">
                <a:solidFill>
                  <a:srgbClr val="22C6B0"/>
                </a:solidFill>
                <a:latin typeface="Aptos"/>
              </a:rPr>
              <a:t>05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Proposed Solution: Privacy Evidence Scanner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900"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900" b="0" i="0">
                <a:solidFill>
                  <a:srgbClr val="AFBED2"/>
                </a:solidFill>
                <a:latin typeface="Aptos"/>
              </a:rPr>
              <a:t>PS-019 •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429000" cy="150876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91056"/>
            <a:ext cx="457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22C6B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01952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Multi-source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67712"/>
            <a:ext cx="3017520" cy="60939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AFBED2"/>
                </a:solidFill>
                <a:latin typeface="Aptos"/>
              </a:rPr>
              <a:t>Read synthetic CSV files and one SQL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150876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553712" y="1591056"/>
            <a:ext cx="457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22C6B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240" y="1888454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Rule-based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3115"/>
            <a:ext cx="3017520" cy="79406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600" b="0" i="0" dirty="0">
                <a:solidFill>
                  <a:srgbClr val="AFBED2"/>
                </a:solidFill>
                <a:latin typeface="Aptos"/>
              </a:rPr>
              <a:t>Apply configurable rules to identify candidate personal-data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429000" cy="150876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1" y="1591056"/>
            <a:ext cx="457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22C6B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901952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Five-class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267712"/>
            <a:ext cx="3017520" cy="60939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AFBED2"/>
                </a:solidFill>
                <a:latin typeface="Aptos"/>
              </a:rPr>
              <a:t>Assign detected fields to predefined classes.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29000"/>
            <a:ext cx="3429000" cy="150876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557016"/>
            <a:ext cx="457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22C6B0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867912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Metadata linking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233672"/>
            <a:ext cx="3017520" cy="56692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600" b="0" i="0" dirty="0">
                <a:solidFill>
                  <a:srgbClr val="AFBED2"/>
                </a:solidFill>
                <a:latin typeface="Aptos"/>
              </a:rPr>
              <a:t>Connect fields to declared purpose and retention metadata.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29000"/>
            <a:ext cx="3429000" cy="150876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557016"/>
            <a:ext cx="457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22C6B0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867912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Gap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233672"/>
            <a:ext cx="3017520" cy="60939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AFBED2"/>
                </a:solidFill>
                <a:latin typeface="Aptos"/>
              </a:rPr>
              <a:t>Flag missing purpose or retention information</a:t>
            </a:r>
            <a:r>
              <a:rPr sz="1100" b="0" i="0" dirty="0">
                <a:solidFill>
                  <a:srgbClr val="AFBED2"/>
                </a:solidFill>
                <a:latin typeface="Aptos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429000"/>
            <a:ext cx="3429000" cy="150876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1" y="3557016"/>
            <a:ext cx="45720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22C6B0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3859203"/>
            <a:ext cx="301752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Evidence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4125923"/>
            <a:ext cx="3017520" cy="79406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600" b="0" i="0" dirty="0">
                <a:solidFill>
                  <a:srgbClr val="AFBED2"/>
                </a:solidFill>
                <a:latin typeface="Aptos"/>
              </a:rPr>
              <a:t>Produce an inventory and evidence-gap report for human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06 •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8160" y="588431"/>
            <a:ext cx="1115568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 dirty="0">
                <a:solidFill>
                  <a:srgbClr val="F5F8FC"/>
                </a:solidFill>
                <a:latin typeface="Aptos"/>
              </a:rPr>
              <a:t>Workflow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9440" y="6470290"/>
            <a:ext cx="914400" cy="24006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200" b="0" i="0" dirty="0">
                <a:solidFill>
                  <a:srgbClr val="AFBED2"/>
                </a:solidFill>
                <a:latin typeface="Aptos"/>
              </a:rPr>
              <a:t>PS-019 •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011680" cy="5029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27048"/>
            <a:ext cx="182880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417320"/>
            <a:ext cx="4023360" cy="5029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527048"/>
            <a:ext cx="384048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CURRENT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67144" y="1417320"/>
            <a:ext cx="4663440" cy="5029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76872" y="1527048"/>
            <a:ext cx="4480559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PROPOSED SCANNER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039112"/>
            <a:ext cx="201168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148840"/>
            <a:ext cx="181051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50CBE1"/>
                </a:solidFill>
                <a:latin typeface="Aptos"/>
              </a:rPr>
              <a:t>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0632" y="2039112"/>
            <a:ext cx="402336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2148840"/>
            <a:ext cx="382219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Manual spreadsheet audits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67144" y="2039112"/>
            <a:ext cx="466344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76872" y="2148840"/>
            <a:ext cx="446227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Configurable rule-based scanning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25496"/>
            <a:ext cx="2011680" cy="658368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2935224"/>
            <a:ext cx="181051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50CBE1"/>
                </a:solidFill>
                <a:latin typeface="Aptos"/>
              </a:rPr>
              <a:t>Mapping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0632" y="2825496"/>
            <a:ext cx="4023360" cy="658368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80360" y="2935224"/>
            <a:ext cx="382219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Disconnected metadata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67144" y="2825496"/>
            <a:ext cx="4663440" cy="658368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76872" y="2935224"/>
            <a:ext cx="446227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Purpose and retention linked to fields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611880"/>
            <a:ext cx="201168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3721608"/>
            <a:ext cx="181051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50CBE1"/>
                </a:solidFill>
                <a:latin typeface="Aptos"/>
              </a:rPr>
              <a:t>Gap analysis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70632" y="3611880"/>
            <a:ext cx="402336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80360" y="3721608"/>
            <a:ext cx="382219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Manual, reactive checks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67144" y="3611880"/>
            <a:ext cx="466344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76872" y="3721608"/>
            <a:ext cx="446227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Automatic flags for missing metadata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398264"/>
            <a:ext cx="2011680" cy="658368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4507992"/>
            <a:ext cx="181051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50CBE1"/>
                </a:solidFill>
                <a:latin typeface="Aptos"/>
              </a:rPr>
              <a:t>Evaluation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70632" y="4398264"/>
            <a:ext cx="4023360" cy="658368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4507992"/>
            <a:ext cx="382219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Informal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67144" y="4398264"/>
            <a:ext cx="4663440" cy="658368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76872" y="4507992"/>
            <a:ext cx="446227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Per-class precision and recall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184648"/>
            <a:ext cx="201168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5528" y="5294376"/>
            <a:ext cx="181051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50CBE1"/>
                </a:solidFill>
                <a:latin typeface="Aptos"/>
              </a:rPr>
              <a:t>Reporting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70632" y="5184648"/>
            <a:ext cx="402336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80360" y="5294376"/>
            <a:ext cx="3822192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Raw findings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67144" y="5184648"/>
            <a:ext cx="4663440" cy="658368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67728" y="5261050"/>
            <a:ext cx="4462272" cy="60939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F5F8FC"/>
                </a:solidFill>
                <a:latin typeface="Aptos"/>
              </a:rPr>
              <a:t>Structured inventory and evidence-gap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2560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000" b="1" i="0">
                <a:solidFill>
                  <a:srgbClr val="22C6B0"/>
                </a:solidFill>
                <a:latin typeface="Aptos"/>
              </a:rPr>
              <a:t>07 •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Solution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900"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900" b="0" i="0">
                <a:solidFill>
                  <a:srgbClr val="AFBED2"/>
                </a:solidFill>
                <a:latin typeface="Aptos"/>
              </a:rPr>
              <a:t>PS-019 •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011680" cy="68580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73736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Synthetic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2011680" cy="68580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73736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SQL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83080"/>
            <a:ext cx="2148840" cy="9144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1965960"/>
            <a:ext cx="182880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Data Ingestion
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783080"/>
            <a:ext cx="2148840" cy="9144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965960"/>
            <a:ext cx="182880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Detection &amp;
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83080"/>
            <a:ext cx="2514600" cy="91440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79408" y="1965960"/>
            <a:ext cx="219456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Metadata Mapping
&amp; Gap Checks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1755648"/>
            <a:ext cx="594360" cy="301752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43200" y="2423160"/>
            <a:ext cx="594360" cy="246888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2240280"/>
            <a:ext cx="594360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2240280"/>
            <a:ext cx="594360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77639" y="3657600"/>
            <a:ext cx="4023360" cy="91440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3858768"/>
            <a:ext cx="365760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22C6B0"/>
                </a:solidFill>
                <a:latin typeface="Aptos"/>
              </a:rPr>
              <a:t>Evidence Inventory &amp; Reports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543800" y="2697480"/>
            <a:ext cx="2514600" cy="96012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5074920"/>
            <a:ext cx="3200400" cy="7315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285232"/>
            <a:ext cx="292608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Labelled Test 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5074920"/>
            <a:ext cx="2926080" cy="7315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5285232"/>
            <a:ext cx="265176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Evaluation Module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074920"/>
            <a:ext cx="3108960" cy="7315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79" y="5285232"/>
            <a:ext cx="2834640" cy="2926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400" b="1" i="0">
                <a:solidFill>
                  <a:srgbClr val="F5F8FC"/>
                </a:solidFill>
                <a:latin typeface="Aptos"/>
              </a:rPr>
              <a:t>Human Review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23360" y="5440680"/>
            <a:ext cx="548640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8079" y="5440680"/>
            <a:ext cx="548641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08 •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Data Flow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02267"/>
            <a:ext cx="914400" cy="24006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200" b="0" i="0" dirty="0">
                <a:solidFill>
                  <a:srgbClr val="AFBED2"/>
                </a:solidFill>
                <a:latin typeface="Aptos"/>
              </a:rPr>
              <a:t>PS-019 •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1737360" cy="196596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36576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1463039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1463039" cy="116339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Load synthetic CSV and SQL data.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880360"/>
            <a:ext cx="164592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32888" y="1920240"/>
            <a:ext cx="1737360" cy="196596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2029968"/>
            <a:ext cx="36576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2359152"/>
            <a:ext cx="1463039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724912"/>
            <a:ext cx="1463039" cy="88639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Apply configurable rules.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70248" y="2880360"/>
            <a:ext cx="164592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71416" y="1920240"/>
            <a:ext cx="1737360" cy="196596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08576" y="2029968"/>
            <a:ext cx="36576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359152"/>
            <a:ext cx="1463039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724912"/>
            <a:ext cx="1463039" cy="88639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Assign one of five data classes.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08776" y="2880360"/>
            <a:ext cx="164592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9944" y="1920240"/>
            <a:ext cx="1737360" cy="196596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7104" y="2029968"/>
            <a:ext cx="36576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359152"/>
            <a:ext cx="1463039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2724912"/>
            <a:ext cx="1463039" cy="88639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Link purpose and retention metadata.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47304" y="2880360"/>
            <a:ext cx="164592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48472" y="1920240"/>
            <a:ext cx="1737360" cy="196596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85632" y="2029968"/>
            <a:ext cx="36576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2359152"/>
            <a:ext cx="1463039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2724912"/>
            <a:ext cx="1463039" cy="60939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Flag missing metadata.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85832" y="2880360"/>
            <a:ext cx="164592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287000" y="1920240"/>
            <a:ext cx="1737360" cy="196596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24160" y="2029968"/>
            <a:ext cx="36576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359152"/>
            <a:ext cx="1463039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2724912"/>
            <a:ext cx="1463039" cy="88639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Generate inventory and gap report.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572000"/>
            <a:ext cx="4480560" cy="77724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4782312"/>
            <a:ext cx="411480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b="1" i="0">
                <a:solidFill>
                  <a:srgbClr val="F5F8FC"/>
                </a:solidFill>
                <a:latin typeface="Aptos"/>
              </a:rPr>
              <a:t>Manual labels → Precision &amp; recall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572000"/>
            <a:ext cx="4572000" cy="777240"/>
          </a:xfrm>
          <a:prstGeom prst="roundRect">
            <a:avLst/>
          </a:prstGeom>
          <a:solidFill>
            <a:srgbClr val="1E3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4782312"/>
            <a:ext cx="42062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b="1" i="0">
                <a:solidFill>
                  <a:srgbClr val="F5F8FC"/>
                </a:solidFill>
                <a:latin typeface="Aptos"/>
              </a:rPr>
              <a:t>Final output → Human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09 •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Deployment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51206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68537"/>
            <a:ext cx="914400" cy="24006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200" b="0" i="0" dirty="0">
                <a:solidFill>
                  <a:srgbClr val="AFBED2"/>
                </a:solidFill>
                <a:latin typeface="Aptos"/>
              </a:rPr>
              <a:t>PS-019 •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14600" cy="30175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2514600" cy="10972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21488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1488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Repository &amp;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6894"/>
            <a:ext cx="2148840" cy="144039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AFBED2"/>
                </a:solidFill>
                <a:latin typeface="Aptos"/>
              </a:rPr>
              <a:t>Initialize GitHub repository; define schema, five classes, and test data.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3246120"/>
            <a:ext cx="320040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1783080"/>
            <a:ext cx="2514600" cy="30175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11880" y="1783080"/>
            <a:ext cx="2514600" cy="109728"/>
          </a:xfrm>
          <a:prstGeom prst="rect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2057400"/>
            <a:ext cx="21488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50CBE1"/>
                </a:solidFill>
                <a:latin typeface="Aptos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14600"/>
            <a:ext cx="21488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Core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337560"/>
            <a:ext cx="2148840" cy="116339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AFBED2"/>
                </a:solidFill>
                <a:latin typeface="Aptos"/>
              </a:rPr>
              <a:t>Implement CSV/SQL ingestion and configurable detection rules.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26480" y="3246120"/>
            <a:ext cx="320040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92240" y="1783080"/>
            <a:ext cx="2514600" cy="30175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0" y="1783080"/>
            <a:ext cx="2514600" cy="10972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057400"/>
            <a:ext cx="21488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22C6B0"/>
                </a:solidFill>
                <a:latin typeface="Aptos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14600"/>
            <a:ext cx="21488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Metadata &amp;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199060"/>
            <a:ext cx="2148840" cy="144039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AFBED2"/>
                </a:solidFill>
                <a:latin typeface="Aptos"/>
              </a:rPr>
              <a:t>Link purpose/retention metadata; flag gaps and generate inventory.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06840" y="3246120"/>
            <a:ext cx="320040" cy="0"/>
          </a:xfrm>
          <a:prstGeom prst="line">
            <a:avLst/>
          </a:prstGeom>
          <a:ln w="25400">
            <a:solidFill>
              <a:srgbClr val="22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600" y="1783080"/>
            <a:ext cx="2514600" cy="30175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72600" y="1783080"/>
            <a:ext cx="2514600" cy="109728"/>
          </a:xfrm>
          <a:prstGeom prst="rect">
            <a:avLst/>
          </a:prstGeom>
          <a:solidFill>
            <a:srgbClr val="50C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2057400"/>
            <a:ext cx="21488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50CBE1"/>
                </a:solidFill>
                <a:latin typeface="Aptos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514600"/>
            <a:ext cx="2148840" cy="33239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1" i="0">
                <a:solidFill>
                  <a:srgbClr val="F5F8FC"/>
                </a:solidFill>
                <a:latin typeface="Aptos"/>
              </a:rPr>
              <a:t>Testing &amp;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5629" y="2967446"/>
            <a:ext cx="2148840" cy="1717393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b="0" i="0" dirty="0">
                <a:solidFill>
                  <a:srgbClr val="AFBED2"/>
                </a:solidFill>
                <a:latin typeface="Aptos"/>
              </a:rPr>
              <a:t>Evaluate precision/recall; demonstrate prototype and document limitations.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DF4AE-B59A-9B3B-AEAA-0BA701CEE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54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9144000" cy="4247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400" b="1" i="0">
                <a:solidFill>
                  <a:srgbClr val="22C6B0"/>
                </a:solidFill>
                <a:latin typeface="Aptos"/>
              </a:rPr>
              <a:t>10 •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247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400" b="1" i="0">
                <a:solidFill>
                  <a:srgbClr val="F5F8FC"/>
                </a:solidFill>
                <a:latin typeface="Aptos"/>
              </a:rPr>
              <a:t>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60120" cy="41148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138466" y="6063936"/>
            <a:ext cx="5120640" cy="79406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400" b="0" i="0" dirty="0">
                <a:solidFill>
                  <a:srgbClr val="AFBED2"/>
                </a:solidFill>
                <a:latin typeface="Aptos"/>
              </a:rPr>
              <a:t>AIORI HACKATHON 3  | 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45936"/>
            <a:ext cx="914400" cy="24006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200" b="0" i="0" dirty="0">
                <a:solidFill>
                  <a:srgbClr val="AFBED2"/>
                </a:solidFill>
                <a:latin typeface="Aptos"/>
              </a:rPr>
              <a:t>PS-019 •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698480" cy="3474720"/>
          </a:xfrm>
          <a:prstGeom prst="round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14400" y="1645919"/>
            <a:ext cx="10332719" cy="42473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400" b="1" i="0">
                <a:solidFill>
                  <a:srgbClr val="22C6B0"/>
                </a:solidFill>
                <a:latin typeface="Aptos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93304"/>
            <a:ext cx="10332719" cy="227139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400" b="0" i="0" dirty="0">
                <a:solidFill>
                  <a:srgbClr val="F5F8FC"/>
                </a:solidFill>
                <a:latin typeface="Aptos"/>
              </a:rPr>
              <a:t>•  Ministry of Electronics and Information Technology (</a:t>
            </a:r>
            <a:r>
              <a:rPr sz="2400" b="0" i="0" dirty="0" err="1">
                <a:solidFill>
                  <a:srgbClr val="F5F8FC"/>
                </a:solidFill>
                <a:latin typeface="Aptos"/>
              </a:rPr>
              <a:t>MeitY</a:t>
            </a:r>
            <a:r>
              <a:rPr sz="2400" b="0" i="0" dirty="0">
                <a:solidFill>
                  <a:srgbClr val="F5F8FC"/>
                </a:solidFill>
                <a:latin typeface="Aptos"/>
              </a:rPr>
              <a:t>), Government of India. Data Protection Framework.
•  AIORI Hackathon 3 Guidelines (2026). PS-019: Personal-Data Discovery and Privacy Evidence Inventory.
•  Technical documentation for the CSV parser and selected SQL database, to be added based on the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8628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800" b="1" i="0">
                <a:solidFill>
                  <a:srgbClr val="F5F8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48628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800" b="1" i="0">
                <a:solidFill>
                  <a:srgbClr val="50CBE1"/>
                </a:solidFill>
                <a:latin typeface="Aptos"/>
              </a:rPr>
              <a:t>Personal-Data Discovery &amp; Evidence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37560"/>
            <a:ext cx="8503920" cy="91717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800" b="0" i="0">
                <a:solidFill>
                  <a:srgbClr val="F5F8FC"/>
                </a:solidFill>
                <a:latin typeface="Aptos"/>
              </a:rPr>
              <a:t>Discover personal data. Identify evidence gaps.
Enable better privacy reviews.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7457" y="5793377"/>
            <a:ext cx="4572000" cy="91717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2800" b="0" i="0" dirty="0">
                <a:solidFill>
                  <a:srgbClr val="AFBED2"/>
                </a:solidFill>
                <a:latin typeface="Aptos"/>
              </a:rPr>
              <a:t>AIORI HACKATHON 3  |  PS-019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826</Words>
  <Application>Microsoft Office PowerPoint</Application>
  <PresentationFormat>Widescreen</PresentationFormat>
  <Paragraphs>156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prerna sharma</dc:creator>
  <cp:keywords/>
  <dc:description>generated using python-pptx</dc:description>
  <cp:lastModifiedBy>prerna sharma</cp:lastModifiedBy>
  <cp:revision>4</cp:revision>
  <dcterms:created xsi:type="dcterms:W3CDTF">2013-01-27T09:14:16Z</dcterms:created>
  <dcterms:modified xsi:type="dcterms:W3CDTF">2026-10-13T05:06:19Z</dcterms:modified>
  <cp:category/>
</cp:coreProperties>
</file>